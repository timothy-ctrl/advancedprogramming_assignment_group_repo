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>
                <a:solidFill>
                  <a:srgbClr val="087F8C"/>
                </a:solidFill>
                <a:latin typeface="Aptos"/>
              </a:defRPr>
            </a:pPr>
            <a:r>
              <a:t>BUS SEAT BOOKING /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000">
                <a:solidFill>
                  <a:srgbClr val="182B3B"/>
                </a:solidFill>
                <a:latin typeface="Aptos"/>
              </a:defRPr>
            </a:pPr>
            <a:r>
              <a:t>Bus seat booking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587080"/>
                </a:solidFill>
                <a:latin typeface="Aptos"/>
              </a:defRPr>
            </a:pPr>
            <a:r>
              <a:t>DDD · TDD · Clean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965960"/>
            <a:ext cx="1097280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82B3B"/>
                </a:solidFill>
                <a:latin typeface="Aptos"/>
              </a:defRPr>
            </a:pPr>
            <a:r>
              <a:t>• ATUHAIRE MARY SEANICE · 2300706843 — Domain Lead; Slides 1–3</a:t>
            </a:r>
          </a:p>
          <a:p>
            <a:pPr>
              <a:spcAft>
                <a:spcPts val="1000"/>
              </a:spcAft>
              <a:defRPr sz="1800">
                <a:solidFill>
                  <a:srgbClr val="182B3B"/>
                </a:solidFill>
                <a:latin typeface="Aptos"/>
              </a:defRPr>
            </a:pPr>
            <a:r>
              <a:t>• kisakye rita · 2400700571 — Domain Model Lead; Slides 4–6</a:t>
            </a:r>
          </a:p>
          <a:p>
            <a:pPr>
              <a:spcAft>
                <a:spcPts val="1000"/>
              </a:spcAft>
              <a:defRPr sz="1800">
                <a:solidFill>
                  <a:srgbClr val="182B3B"/>
                </a:solidFill>
                <a:latin typeface="Aptos"/>
              </a:defRPr>
            </a:pPr>
            <a:r>
              <a:t>• Nassaka Catherine · 2400709816 — Architecture Lead; Slides 7–9</a:t>
            </a:r>
          </a:p>
          <a:p>
            <a:pPr>
              <a:spcAft>
                <a:spcPts val="1000"/>
              </a:spcAft>
              <a:defRPr sz="1800">
                <a:solidFill>
                  <a:srgbClr val="182B3B"/>
                </a:solidFill>
                <a:latin typeface="Aptos"/>
              </a:defRPr>
            </a:pPr>
            <a:r>
              <a:t>• Mwizerwa Timothy · 2400724330 — Testing Lead; Slides 11–12</a:t>
            </a:r>
          </a:p>
          <a:p>
            <a:pPr>
              <a:spcAft>
                <a:spcPts val="1000"/>
              </a:spcAft>
              <a:defRPr sz="1800">
                <a:solidFill>
                  <a:srgbClr val="182B3B"/>
                </a:solidFill>
                <a:latin typeface="Aptos"/>
              </a:defRPr>
            </a:pPr>
            <a:r>
              <a:t>• Mwizerwa Timothy also covers Integration Lead; Slides 10 and 13–15</a:t>
            </a:r>
          </a:p>
          <a:p>
            <a:pPr>
              <a:spcAft>
                <a:spcPts val="1000"/>
              </a:spcAft>
              <a:defRPr sz="1800">
                <a:solidFill>
                  <a:srgbClr val="182B3B"/>
                </a:solidFill>
                <a:latin typeface="Aptos"/>
              </a:defRPr>
            </a:pPr>
            <a:r>
              <a:t>• Makerere University · Advanced Programming group coursework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008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>
                <a:solidFill>
                  <a:srgbClr val="587080"/>
                </a:solidFill>
                <a:latin typeface="Aptos"/>
              </a:defRPr>
            </a:pPr>
            <a:r>
              <a:t>MAKERERE UNIVERSITY · ADVANCED PROGRAMMING                                                 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>
                <a:solidFill>
                  <a:srgbClr val="087F8C"/>
                </a:solidFill>
                <a:latin typeface="Aptos"/>
              </a:defRPr>
            </a:pPr>
            <a:r>
              <a:t>BUS SEAT BOOKING /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000">
                <a:solidFill>
                  <a:srgbClr val="182B3B"/>
                </a:solidFill>
                <a:latin typeface="Aptos"/>
              </a:defRPr>
            </a:pPr>
            <a:r>
              <a:t>A seat must be sold once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587080"/>
                </a:solidFill>
                <a:latin typeface="Aptos"/>
              </a:defRPr>
            </a:pPr>
            <a:r>
              <a:t>Problem · scope · language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965960"/>
            <a:ext cx="1097280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82B3B"/>
                </a:solidFill>
                <a:latin typeface="Aptos"/>
              </a:defRPr>
            </a:pPr>
            <a:r>
              <a:t>• Problem: reserve bus seats without duplicate bookings, and stop advertising a trip when its final seat is sold.</a:t>
            </a:r>
          </a:p>
          <a:p>
            <a:pPr>
              <a:spcAft>
                <a:spcPts val="1000"/>
              </a:spcAft>
              <a:defRPr sz="1800">
                <a:solidFill>
                  <a:srgbClr val="182B3B"/>
                </a:solidFill>
                <a:latin typeface="Aptos"/>
              </a:defRPr>
            </a:pPr>
            <a:r>
              <a:t>• Inside scope: schedule a trip, book a seat, retrieve a trip, list active advertisements, and withdraw an advertisement through an event.</a:t>
            </a:r>
          </a:p>
          <a:p>
            <a:pPr>
              <a:spcAft>
                <a:spcPts val="1000"/>
              </a:spcAft>
              <a:defRPr sz="1800">
                <a:solidFill>
                  <a:srgbClr val="182B3B"/>
                </a:solidFill>
                <a:latin typeface="Aptos"/>
              </a:defRPr>
            </a:pPr>
            <a:r>
              <a:t>• Outside scope: payments, cancellations, journey durations, overlapping journeys, web UI, database, and distributed messaging.</a:t>
            </a:r>
          </a:p>
          <a:p>
            <a:pPr>
              <a:spcAft>
                <a:spcPts val="1000"/>
              </a:spcAft>
              <a:defRPr sz="1800">
                <a:solidFill>
                  <a:srgbClr val="182B3B"/>
                </a:solidFill>
                <a:latin typeface="Aptos"/>
              </a:defRPr>
            </a:pPr>
            <a:r>
              <a:t>• Trip = one scheduled departure; Bus = vehicle identified by bus number; Booking = identified seat reservation.</a:t>
            </a:r>
          </a:p>
          <a:p>
            <a:pPr>
              <a:spcAft>
                <a:spcPts val="1000"/>
              </a:spcAft>
              <a:defRPr sz="1800">
                <a:solidFill>
                  <a:srgbClr val="182B3B"/>
                </a:solidFill>
                <a:latin typeface="Aptos"/>
              </a:defRPr>
            </a:pPr>
            <a:r>
              <a:t>• SeatNumber = positive integer value; TripAdvertisement = public availability record identified by trip number.</a:t>
            </a:r>
          </a:p>
          <a:p>
            <a:pPr>
              <a:spcAft>
                <a:spcPts val="1000"/>
              </a:spcAft>
              <a:defRPr sz="1800">
                <a:solidFill>
                  <a:srgbClr val="182B3B"/>
                </a:solidFill>
                <a:latin typeface="Aptos"/>
              </a:defRPr>
            </a:pPr>
            <a:r>
              <a:t>• Two connected use cases: BookSeat → WithdrawAdvertisement. Console inputs use local dates and times.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008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>
                <a:solidFill>
                  <a:srgbClr val="587080"/>
                </a:solidFill>
                <a:latin typeface="Aptos"/>
              </a:defRPr>
            </a:pPr>
            <a:r>
              <a:t>MAKERERE UNIVERSITY · ADVANCED PROGRAMMING                                                 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>
                <a:solidFill>
                  <a:srgbClr val="087F8C"/>
                </a:solidFill>
                <a:latin typeface="Aptos"/>
              </a:defRPr>
            </a:pPr>
            <a:r>
              <a:t>BUS SEAT BOOKING /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000">
                <a:solidFill>
                  <a:srgbClr val="182B3B"/>
                </a:solidFill>
                <a:latin typeface="Aptos"/>
              </a:defRPr>
            </a:pPr>
            <a:r>
              <a:t>Exactly six business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587080"/>
                </a:solidFill>
                <a:latin typeface="Aptos"/>
              </a:defRPr>
            </a:pPr>
            <a:r>
              <a:t>Rule · responsible component · violation outcome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965960"/>
            <a:ext cx="1097280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82B3B"/>
                </a:solidFill>
                <a:latin typeface="Aptos"/>
              </a:defRPr>
            </a:pPr>
            <a:r>
              <a:t>• BR1 — Value: a seat number must be a positive integer, excluding bool. SeatNumber rejects invalid values with ValueError.</a:t>
            </a:r>
          </a:p>
          <a:p>
            <a:pPr>
              <a:spcAft>
                <a:spcPts val="1000"/>
              </a:spcAft>
              <a:defRPr sz="1600">
                <a:solidFill>
                  <a:srgbClr val="182B3B"/>
                </a:solidFill>
                <a:latin typeface="Aptos"/>
              </a:defRPr>
            </a:pPr>
            <a:r>
              <a:t>• BR2 — Identity/state: booking an available seat adds an identified Booking to the same Trip and reduces availability. Trip.book_seat rejects empty passenger names or a full trip.</a:t>
            </a:r>
          </a:p>
          <a:p>
            <a:pPr>
              <a:spcAft>
                <a:spcPts val="1000"/>
              </a:spcAft>
              <a:defRPr sz="1600">
                <a:solidFill>
                  <a:srgbClr val="182B3B"/>
                </a:solidFill>
                <a:latin typeface="Aptos"/>
              </a:defRPr>
            </a:pPr>
            <a:r>
              <a:t>• BR3 — Invariant: each booked seat is unique and within 1..bus capacity. Trip.book_seat rejects duplicates/out-of-range seats; its collection is read-only to callers.</a:t>
            </a:r>
          </a:p>
          <a:p>
            <a:pPr>
              <a:spcAft>
                <a:spcPts val="1000"/>
              </a:spcAft>
              <a:defRPr sz="1600">
                <a:solidFill>
                  <a:srgbClr val="182B3B"/>
                </a:solidFill>
                <a:latin typeface="Aptos"/>
              </a:defRPr>
            </a:pPr>
            <a:r>
              <a:t>• BR4 — Cross-concept: the same bus cannot serve two trips at the same departure instant. BusSchedulingPolicy checks existing trips and rejects the proposed assignment before storage.</a:t>
            </a:r>
          </a:p>
          <a:p>
            <a:pPr>
              <a:spcAft>
                <a:spcPts val="1000"/>
              </a:spcAft>
              <a:defRPr sz="1600">
                <a:solidFill>
                  <a:srgbClr val="182B3B"/>
                </a:solidFill>
                <a:latin typeface="Aptos"/>
              </a:defRPr>
            </a:pPr>
            <a:r>
              <a:t>• BR5 — Follow-up: the final booking raises TripFullyBooked to request withdrawal of that trip's advertisement. TripAdvertisement permits active → withdrawn only; repeated withdrawal returns a rejection with no state change.</a:t>
            </a:r>
          </a:p>
          <a:p>
            <a:pPr>
              <a:spcAft>
                <a:spcPts val="1000"/>
              </a:spcAft>
              <a:defRPr sz="1600">
                <a:solidFill>
                  <a:srgbClr val="182B3B"/>
                </a:solidFill>
                <a:latin typeface="Aptos"/>
              </a:defRPr>
            </a:pPr>
            <a:r>
              <a:t>• BR6 — Lookup: booking requires an existing Trip; scheduling requires an unused trip number. Application services use ITripRepository and reject missing/duplicate identities before mutation.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008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>
                <a:solidFill>
                  <a:srgbClr val="587080"/>
                </a:solidFill>
                <a:latin typeface="Aptos"/>
              </a:defRPr>
            </a:pPr>
            <a:r>
              <a:t>MAKERERE UNIVERSITY · ADVANCED PROGRAMMING                                                 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>
                <a:solidFill>
                  <a:srgbClr val="087F8C"/>
                </a:solidFill>
                <a:latin typeface="Aptos"/>
              </a:defRPr>
            </a:pPr>
            <a:r>
              <a:t>BUS SEAT BOOKING /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000">
                <a:solidFill>
                  <a:srgbClr val="182B3B"/>
                </a:solidFill>
                <a:latin typeface="Aptos"/>
              </a:defRPr>
            </a:pPr>
            <a:r>
              <a:t>Values and identities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587080"/>
                </a:solidFill>
                <a:latin typeface="Aptos"/>
              </a:defRPr>
            </a:pPr>
            <a:r>
              <a:t>BR1 and BR2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965960"/>
            <a:ext cx="1097280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82B3B"/>
                </a:solidFill>
                <a:latin typeface="Aptos"/>
              </a:defRPr>
            </a:pPr>
            <a:r>
              <a:t>• SeatNumber has no separate identity: SeatNumber(1) equals another SeatNumber(1). It is immutable and validates its value at construction.</a:t>
            </a:r>
          </a:p>
          <a:p>
            <a:pPr>
              <a:spcAft>
                <a:spcPts val="1000"/>
              </a:spcAft>
              <a:defRPr sz="1800">
                <a:solidFill>
                  <a:srgbClr val="182B3B"/>
                </a:solidFill>
                <a:latin typeface="Aptos"/>
              </a:defRPr>
            </a:pPr>
            <a:r>
              <a:t>• Trip is identified by trip_number, which remains stable as bookings change.</a:t>
            </a:r>
          </a:p>
          <a:p>
            <a:pPr>
              <a:spcAft>
                <a:spcPts val="1000"/>
              </a:spcAft>
              <a:defRPr sz="1800">
                <a:solidFill>
                  <a:srgbClr val="182B3B"/>
                </a:solidFill>
                <a:latin typeface="Aptos"/>
              </a:defRPr>
            </a:pPr>
            <a:r>
              <a:t>• Booking is a child entity identified by a generated booking_id; passenger name is data, not identity.</a:t>
            </a:r>
          </a:p>
          <a:p>
            <a:pPr>
              <a:spcAft>
                <a:spcPts val="1000"/>
              </a:spcAft>
              <a:defRPr sz="1800">
                <a:solidFill>
                  <a:srgbClr val="182B3B"/>
                </a:solidFill>
                <a:latin typeface="Aptos"/>
              </a:defRPr>
            </a:pPr>
            <a:r>
              <a:t>• Bus is identified operationally by bus_number; the scheduling policy compares that identity across trips.</a:t>
            </a:r>
          </a:p>
          <a:p>
            <a:pPr>
              <a:spcAft>
                <a:spcPts val="1000"/>
              </a:spcAft>
              <a:defRPr sz="1800">
                <a:solidFill>
                  <a:srgbClr val="182B3B"/>
                </a:solidFill>
                <a:latin typeface="Aptos"/>
              </a:defRPr>
            </a:pPr>
            <a:r>
              <a:t>• Frozen dataclasses prevent accidental field reassignment. Identity in this model is the explicit ID, not dataclass structural equality.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008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>
                <a:solidFill>
                  <a:srgbClr val="587080"/>
                </a:solidFill>
                <a:latin typeface="Aptos"/>
              </a:defRPr>
            </a:pPr>
            <a:r>
              <a:t>MAKERERE UNIVERSITY · ADVANCED PROGRAMMING                                                 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>
                <a:solidFill>
                  <a:srgbClr val="087F8C"/>
                </a:solidFill>
                <a:latin typeface="Aptos"/>
              </a:defRPr>
            </a:pPr>
            <a:r>
              <a:t>BUS SEAT BOOKING /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000">
                <a:solidFill>
                  <a:srgbClr val="182B3B"/>
                </a:solidFill>
                <a:latin typeface="Aptos"/>
              </a:defRPr>
            </a:pPr>
            <a:r>
              <a:t>Two roots protect two boundaries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587080"/>
                </a:solidFill>
                <a:latin typeface="Aptos"/>
              </a:defRPr>
            </a:pPr>
            <a:r>
              <a:t>BR3 · aggregate invariants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965960"/>
            <a:ext cx="1097280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82B3B"/>
                </a:solidFill>
                <a:latin typeface="Aptos"/>
              </a:defRPr>
            </a:pPr>
            <a:r>
              <a:t>• Aggregate A root: Trip. Contents: Bus assignment and Booking children, each containing a SeatNumber.</a:t>
            </a:r>
          </a:p>
          <a:p>
            <a:pPr>
              <a:spcAft>
                <a:spcPts val="1000"/>
              </a:spcAft>
              <a:defRPr sz="1800">
                <a:solidFill>
                  <a:srgbClr val="182B3B"/>
                </a:solidFill>
                <a:latin typeface="Aptos"/>
              </a:defRPr>
            </a:pPr>
            <a:r>
              <a:t>• A invariant: no duplicate seat, every booked seat lies within capacity, and available_seats = capacity − booking count ≥ 0.</a:t>
            </a:r>
          </a:p>
          <a:p>
            <a:pPr>
              <a:spcAft>
                <a:spcPts val="1000"/>
              </a:spcAft>
              <a:defRPr sz="1800">
                <a:solidFill>
                  <a:srgbClr val="182B3B"/>
                </a:solidFill>
                <a:latin typeface="Aptos"/>
              </a:defRPr>
            </a:pPr>
            <a:r>
              <a:t>• Trip creates bookings; callers receive a read-only view of the booking collection. Booking children have no independent repository.</a:t>
            </a:r>
          </a:p>
          <a:p>
            <a:pPr>
              <a:spcAft>
                <a:spcPts val="1000"/>
              </a:spcAft>
              <a:defRPr sz="1800">
                <a:solidFill>
                  <a:srgbClr val="182B3B"/>
                </a:solidFill>
                <a:latin typeface="Aptos"/>
              </a:defRPr>
            </a:pPr>
            <a:r>
              <a:t>• Aggregate B root: TripAdvertisement. Identity: trip_number. No child entities are needed for this small aggregate.</a:t>
            </a:r>
          </a:p>
          <a:p>
            <a:pPr>
              <a:spcAft>
                <a:spcPts val="1000"/>
              </a:spcAft>
              <a:defRPr sz="1800">
                <a:solidFill>
                  <a:srgbClr val="182B3B"/>
                </a:solidFill>
                <a:latin typeface="Aptos"/>
              </a:defRPr>
            </a:pPr>
            <a:r>
              <a:t>• B invariant: an active advertisement has positive availability; a withdrawn advertisement has zero availability. Withdrawal is one-way.</a:t>
            </a:r>
          </a:p>
          <a:p>
            <a:pPr>
              <a:spcAft>
                <a:spcPts val="1000"/>
              </a:spcAft>
              <a:defRPr sz="1800">
                <a:solidFill>
                  <a:srgbClr val="182B3B"/>
                </a:solidFill>
                <a:latin typeface="Aptos"/>
              </a:defRPr>
            </a:pPr>
            <a:r>
              <a:t>• B returns new immutable state from update_availability/withdraw. Only its own methods determine valid transitions.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008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>
                <a:solidFill>
                  <a:srgbClr val="587080"/>
                </a:solidFill>
                <a:latin typeface="Aptos"/>
              </a:defRPr>
            </a:pPr>
            <a:r>
              <a:t>MAKERERE UNIVERSITY · ADVANCED PROGRAMMING                                                 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>
                <a:solidFill>
                  <a:srgbClr val="087F8C"/>
                </a:solidFill>
                <a:latin typeface="Aptos"/>
              </a:defRPr>
            </a:pPr>
            <a:r>
              <a:t>BUS SEAT BOOKING /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000">
                <a:solidFill>
                  <a:srgbClr val="182B3B"/>
                </a:solidFill>
                <a:latin typeface="Aptos"/>
              </a:defRPr>
            </a:pPr>
            <a:r>
              <a:t>A policy across trip assignments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587080"/>
                </a:solidFill>
                <a:latin typeface="Aptos"/>
              </a:defRPr>
            </a:pPr>
            <a:r>
              <a:t>BR4 · Domain Service · Factory decision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965960"/>
            <a:ext cx="1097280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82B3B"/>
                </a:solidFill>
                <a:latin typeface="Aptos"/>
              </a:defRPr>
            </a:pPr>
            <a:r>
              <a:t>• BusSchedulingPolicy receives a proposed Bus, departure time, and existing Trip aggregates.</a:t>
            </a:r>
          </a:p>
          <a:p>
            <a:pPr>
              <a:spcAft>
                <a:spcPts val="1000"/>
              </a:spcAft>
              <a:defRPr sz="1800">
                <a:solidFill>
                  <a:srgbClr val="182B3B"/>
                </a:solidFill>
                <a:latin typeface="Aptos"/>
              </a:defRPr>
            </a:pPr>
            <a:r>
              <a:t>• It rejects equal departure times for an existing assignment with the same bus_number. Another bus at the same instant remains valid.</a:t>
            </a:r>
          </a:p>
          <a:p>
            <a:pPr>
              <a:spcAft>
                <a:spcPts val="1000"/>
              </a:spcAft>
              <a:defRPr sz="1800">
                <a:solidFill>
                  <a:srgbClr val="182B3B"/>
                </a:solidFill>
                <a:latin typeface="Aptos"/>
              </a:defRPr>
            </a:pPr>
            <a:r>
              <a:t>• This belongs in a Domain Service: the decision spans the proposed assignment and other Trip roots; no individual Trip owns the schedule.</a:t>
            </a:r>
          </a:p>
          <a:p>
            <a:pPr>
              <a:spcAft>
                <a:spcPts val="1000"/>
              </a:spcAft>
              <a:defRPr sz="1800">
                <a:solidFill>
                  <a:srgbClr val="182B3B"/>
                </a:solidFill>
                <a:latin typeface="Aptos"/>
              </a:defRPr>
            </a:pPr>
            <a:r>
              <a:t>• CreateTripService loads existing trips and invokes the policy before adding the new Trip or advertisement.</a:t>
            </a:r>
          </a:p>
          <a:p>
            <a:pPr>
              <a:spcAft>
                <a:spcPts val="1000"/>
              </a:spcAft>
              <a:defRPr sz="1800">
                <a:solidFill>
                  <a:srgbClr val="182B3B"/>
                </a:solidFill>
                <a:latin typeface="Aptos"/>
              </a:defRPr>
            </a:pPr>
            <a:r>
              <a:t>• No Factory: construction is small and constructors already validate inputs. A Factory would add indirection without a creation workflow.</a:t>
            </a:r>
          </a:p>
          <a:p>
            <a:pPr>
              <a:spcAft>
                <a:spcPts val="1000"/>
              </a:spcAft>
              <a:defRPr sz="1800">
                <a:solidFill>
                  <a:srgbClr val="182B3B"/>
                </a:solidFill>
                <a:latin typeface="Aptos"/>
              </a:defRPr>
            </a:pPr>
            <a:r>
              <a:t>• Deliberate limit: no journey-duration model, so this rule does not detect overlapping journeys at different departure times.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008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>
                <a:solidFill>
                  <a:srgbClr val="587080"/>
                </a:solidFill>
                <a:latin typeface="Aptos"/>
              </a:defRPr>
            </a:pPr>
            <a:r>
              <a:t>MAKERERE UNIVERSITY · ADVANCED PROGRAMMING                                                 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>
                <a:solidFill>
                  <a:srgbClr val="087F8C"/>
                </a:solidFill>
                <a:latin typeface="Aptos"/>
              </a:defRPr>
            </a:pPr>
            <a:r>
              <a:t>BUS SEAT BOOKING /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000">
                <a:solidFill>
                  <a:srgbClr val="182B3B"/>
                </a:solidFill>
                <a:latin typeface="Aptos"/>
              </a:defRPr>
            </a:pPr>
            <a:r>
              <a:t>Repositories store aggregate roots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587080"/>
                </a:solidFill>
                <a:latin typeface="Aptos"/>
              </a:defRPr>
            </a:pPr>
            <a:r>
              <a:t>Contracts in Application · adapters in Infrastructure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965960"/>
            <a:ext cx="1097280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82B3B"/>
                </a:solidFill>
                <a:latin typeface="Aptos"/>
              </a:defRPr>
            </a:pPr>
            <a:r>
              <a:t>• ITripRepository → InMemoryTripRepository: stores Trip roots keyed by trip_number, including their Booking children.</a:t>
            </a:r>
          </a:p>
          <a:p>
            <a:pPr>
              <a:spcAft>
                <a:spcPts val="1000"/>
              </a:spcAft>
              <a:defRPr sz="1800">
                <a:solidFill>
                  <a:srgbClr val="182B3B"/>
                </a:solidFill>
                <a:latin typeface="Aptos"/>
              </a:defRPr>
            </a:pPr>
            <a:r>
              <a:t>• Operations: add, find_by_number, list_all, save. Duplicate identities and saving unknown trips are rejected.</a:t>
            </a:r>
          </a:p>
          <a:p>
            <a:pPr>
              <a:spcAft>
                <a:spcPts val="1000"/>
              </a:spcAft>
              <a:defRPr sz="1800">
                <a:solidFill>
                  <a:srgbClr val="182B3B"/>
                </a:solidFill>
                <a:latin typeface="Aptos"/>
              </a:defRPr>
            </a:pPr>
            <a:r>
              <a:t>• ITripAdvertisementRepository → InMemoryTripAdvertisementRepository: stores TripAdvertisement roots keyed by trip_number.</a:t>
            </a:r>
          </a:p>
          <a:p>
            <a:pPr>
              <a:spcAft>
                <a:spcPts val="1000"/>
              </a:spcAft>
              <a:defRPr sz="1800">
                <a:solidFill>
                  <a:srgbClr val="182B3B"/>
                </a:solidFill>
                <a:latin typeface="Aptos"/>
              </a:defRPr>
            </a:pPr>
            <a:r>
              <a:t>• Operations: put, find_by_number, list_available. Withdrawn roots are retained; available listings include active roots only.</a:t>
            </a:r>
          </a:p>
          <a:p>
            <a:pPr>
              <a:spcAft>
                <a:spcPts val="1000"/>
              </a:spcAft>
              <a:defRPr sz="1800">
                <a:solidFill>
                  <a:srgbClr val="182B3B"/>
                </a:solidFill>
                <a:latin typeface="Aptos"/>
              </a:defRPr>
            </a:pPr>
            <a:r>
              <a:t>• One abstraction per aggregate root used in the workflow. No separate Booking repository breaks the Trip boundary.</a:t>
            </a:r>
          </a:p>
          <a:p>
            <a:pPr>
              <a:spcAft>
                <a:spcPts val="1000"/>
              </a:spcAft>
              <a:defRPr sz="1800">
                <a:solidFill>
                  <a:srgbClr val="182B3B"/>
                </a:solidFill>
                <a:latin typeface="Aptos"/>
              </a:defRPr>
            </a:pPr>
            <a:r>
              <a:t>• Both implementations are process-local dictionaries. Restarting the console resets the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008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>
                <a:solidFill>
                  <a:srgbClr val="587080"/>
                </a:solidFill>
                <a:latin typeface="Aptos"/>
              </a:defRPr>
            </a:pPr>
            <a:r>
              <a:t>MAKERERE UNIVERSITY · ADVANCED PROGRAMMING                                                 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>
                <a:solidFill>
                  <a:srgbClr val="087F8C"/>
                </a:solidFill>
                <a:latin typeface="Aptos"/>
              </a:defRPr>
            </a:pPr>
            <a:r>
              <a:t>BUS SEAT BOOKING /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000">
                <a:solidFill>
                  <a:srgbClr val="182B3B"/>
                </a:solidFill>
                <a:latin typeface="Aptos"/>
              </a:defRPr>
            </a:pPr>
            <a:r>
              <a:t>Dependencies point toward policy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587080"/>
                </a:solidFill>
                <a:latin typeface="Aptos"/>
              </a:defRPr>
            </a:pPr>
            <a:r>
              <a:t>Static import arrows: caller → dependency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2560320" cy="685800"/>
          </a:xfrm>
          <a:prstGeom prst="roundRect">
            <a:avLst/>
          </a:prstGeom>
          <a:solidFill>
            <a:srgbClr val="E8F3F3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340864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182B3B"/>
                </a:solidFill>
                <a:latin typeface="Aptos"/>
              </a:defRPr>
            </a:pPr>
            <a:r>
              <a:t>Interface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2194560"/>
            <a:ext cx="2560320" cy="685800"/>
          </a:xfrm>
          <a:prstGeom prst="roundRect">
            <a:avLst/>
          </a:prstGeom>
          <a:solidFill>
            <a:srgbClr val="E8F3F3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92040" y="2340864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182B3B"/>
                </a:solidFill>
                <a:latin typeface="Aptos"/>
              </a:defRPr>
            </a:pPr>
            <a:r>
              <a:t>Application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78240" y="2194560"/>
            <a:ext cx="2560320" cy="685800"/>
          </a:xfrm>
          <a:prstGeom prst="roundRect">
            <a:avLst/>
          </a:prstGeom>
          <a:solidFill>
            <a:srgbClr val="E8F3F3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15400" y="2340864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182B3B"/>
                </a:solidFill>
                <a:latin typeface="Aptos"/>
              </a:defRPr>
            </a:pPr>
            <a:r>
              <a:t>Infrastructure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0" y="4114800"/>
            <a:ext cx="2560320" cy="685800"/>
          </a:xfrm>
          <a:prstGeom prst="roundRect">
            <a:avLst/>
          </a:prstGeom>
          <a:solidFill>
            <a:srgbClr val="E8F3F3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92040" y="4261104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182B3B"/>
                </a:solidFill>
                <a:latin typeface="Aptos"/>
              </a:defRPr>
            </a:pPr>
            <a:r>
              <a:t>Domain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291840" y="2532888"/>
            <a:ext cx="1371600" cy="0"/>
          </a:xfrm>
          <a:prstGeom prst="line">
            <a:avLst/>
          </a:prstGeom>
          <a:ln w="25400">
            <a:solidFill>
              <a:srgbClr val="087F8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7406640" y="2532888"/>
            <a:ext cx="1371600" cy="0"/>
          </a:xfrm>
          <a:prstGeom prst="line">
            <a:avLst/>
          </a:prstGeom>
          <a:ln w="25400">
            <a:solidFill>
              <a:srgbClr val="087F8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035040" y="2926080"/>
            <a:ext cx="0" cy="1097280"/>
          </a:xfrm>
          <a:prstGeom prst="line">
            <a:avLst/>
          </a:prstGeom>
          <a:ln w="25400">
            <a:solidFill>
              <a:srgbClr val="087F8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011680" y="2926080"/>
            <a:ext cx="2651760" cy="1527048"/>
          </a:xfrm>
          <a:prstGeom prst="line">
            <a:avLst/>
          </a:prstGeom>
          <a:ln w="25400">
            <a:solidFill>
              <a:srgbClr val="087F8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7406640" y="2926080"/>
            <a:ext cx="2651760" cy="1527048"/>
          </a:xfrm>
          <a:prstGeom prst="line">
            <a:avLst/>
          </a:prstGeom>
          <a:ln w="25400">
            <a:solidFill>
              <a:srgbClr val="087F8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94360" y="51663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587080"/>
                </a:solidFill>
                <a:latin typeface="Aptos"/>
              </a:defRPr>
            </a:pPr>
            <a:r>
              <a:t>main.py composes all four areas; Domain imports only Domain and the standard library.</a:t>
            </a:r>
          </a:p>
          <a:p>
            <a:pPr>
              <a:spcAft>
                <a:spcPts val="1000"/>
              </a:spcAft>
              <a:defRPr sz="1500">
                <a:solidFill>
                  <a:srgbClr val="587080"/>
                </a:solidFill>
                <a:latin typeface="Aptos"/>
              </a:defRPr>
            </a:pPr>
            <a:r>
              <a:t>No Layer Supertype: no shared entity behaviour needs one. Repository ABCs are contracts.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008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>
                <a:solidFill>
                  <a:srgbClr val="587080"/>
                </a:solidFill>
                <a:latin typeface="Aptos"/>
              </a:defRPr>
            </a:pPr>
            <a:r>
              <a:t>MAKERERE UNIVERSITY · ADVANCED PROGRAMMING                                                 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>
                <a:solidFill>
                  <a:srgbClr val="087F8C"/>
                </a:solidFill>
                <a:latin typeface="Aptos"/>
              </a:defRPr>
            </a:pPr>
            <a:r>
              <a:t>BUS SEAT BOOKING /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000">
                <a:solidFill>
                  <a:srgbClr val="182B3B"/>
                </a:solidFill>
                <a:latin typeface="Aptos"/>
              </a:defRPr>
            </a:pPr>
            <a:r>
              <a:t>BookSeatService coordinates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587080"/>
                </a:solidFill>
                <a:latin typeface="Aptos"/>
              </a:defRPr>
            </a:pPr>
            <a:r>
              <a:t>Input/output DTOs · dependency injection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965960"/>
            <a:ext cx="1097280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82B3B"/>
                </a:solidFill>
                <a:latin typeface="Aptos"/>
              </a:defRPr>
            </a:pPr>
            <a:r>
              <a:t>• Input: BookSeatInputDTO(trip_number, passenger_name, seat_number). The console parses user input; the domain validates seat values.</a:t>
            </a:r>
          </a:p>
          <a:p>
            <a:pPr>
              <a:spcAft>
                <a:spcPts val="1000"/>
              </a:spcAft>
              <a:defRPr sz="1800">
                <a:solidFill>
                  <a:srgbClr val="182B3B"/>
                </a:solidFill>
                <a:latin typeface="Aptos"/>
              </a:defRPr>
            </a:pPr>
            <a:r>
              <a:t>• Service flow: repository lookup → SeatNumber → Trip.book_seat → save Trip → refresh/handle advertisement → output DTO.</a:t>
            </a:r>
          </a:p>
          <a:p>
            <a:pPr>
              <a:spcAft>
                <a:spcPts val="1000"/>
              </a:spcAft>
              <a:defRPr sz="1800">
                <a:solidFill>
                  <a:srgbClr val="182B3B"/>
                </a:solidFill>
                <a:latin typeface="Aptos"/>
              </a:defRPr>
            </a:pPr>
            <a:r>
              <a:t>• Output: booking_id, trip_number, passenger_name, seat_number, available_seats, advertisement_outcome.</a:t>
            </a:r>
          </a:p>
          <a:p>
            <a:pPr>
              <a:spcAft>
                <a:spcPts val="1000"/>
              </a:spcAft>
              <a:defRPr sz="1800">
                <a:solidFill>
                  <a:srgbClr val="182B3B"/>
                </a:solidFill>
                <a:latin typeface="Aptos"/>
              </a:defRPr>
            </a:pPr>
            <a:r>
              <a:t>• Business decisions stay in SeatNumber, Trip, TripAdvertisement, and BusSchedulingPolicy.</a:t>
            </a:r>
          </a:p>
          <a:p>
            <a:pPr>
              <a:spcAft>
                <a:spcPts val="1000"/>
              </a:spcAft>
              <a:defRPr sz="1800">
                <a:solidFill>
                  <a:srgbClr val="182B3B"/>
                </a:solidFill>
                <a:latin typeface="Aptos"/>
              </a:defRPr>
            </a:pPr>
            <a:r>
              <a:t>• main.build_console_app constructs the two in-memory repositories and injects them into services/handler. Tests inject fresh repositories.</a:t>
            </a:r>
          </a:p>
          <a:p>
            <a:pPr>
              <a:spcAft>
                <a:spcPts val="1000"/>
              </a:spcAft>
              <a:defRPr sz="1800">
                <a:solidFill>
                  <a:srgbClr val="182B3B"/>
                </a:solidFill>
                <a:latin typeface="Aptos"/>
              </a:defRPr>
            </a:pPr>
            <a:r>
              <a:t>• A rejected follow-up is exposed explicitly. The booking remains committed; this example does not promise cross-aggregate transaction rollback.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008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>
                <a:solidFill>
                  <a:srgbClr val="587080"/>
                </a:solidFill>
                <a:latin typeface="Aptos"/>
              </a:defRPr>
            </a:pPr>
            <a:r>
              <a:t>MAKERERE UNIVERSITY · ADVANCED PROGRAMMING                                                 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>
                <a:solidFill>
                  <a:srgbClr val="087F8C"/>
                </a:solidFill>
                <a:latin typeface="Aptos"/>
              </a:defRPr>
            </a:pPr>
            <a:r>
              <a:t>BUS SEAT BOOKING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000">
                <a:solidFill>
                  <a:srgbClr val="182B3B"/>
                </a:solidFill>
                <a:latin typeface="Aptos"/>
              </a:defRPr>
            </a:pPr>
            <a:r>
              <a:t>The final seat triggers withdrawal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587080"/>
                </a:solidFill>
                <a:latin typeface="Aptos"/>
              </a:defRPr>
            </a:pPr>
            <a:r>
              <a:t>BR5 · in-process aggregate communication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965960"/>
            <a:ext cx="1097280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82B3B"/>
                </a:solidFill>
                <a:latin typeface="Aptos"/>
              </a:defRPr>
            </a:pPr>
            <a:r>
              <a:t>• Request → BookSeatService → Trip (A) → TripFullyBooked → TripFullyBookedHandler → TripAdvertisement (B)</a:t>
            </a:r>
          </a:p>
          <a:p>
            <a:pPr>
              <a:spcAft>
                <a:spcPts val="1000"/>
              </a:spcAft>
              <a:defRPr sz="1800">
                <a:solidFill>
                  <a:srgbClr val="182B3B"/>
                </a:solidFill>
                <a:latin typeface="Aptos"/>
              </a:defRPr>
            </a:pPr>
            <a:r>
              <a:t>• Before the event: a valid booking reduces available_seats to zero. Earlier bookings produce no event.</a:t>
            </a:r>
          </a:p>
          <a:p>
            <a:pPr>
              <a:spcAft>
                <a:spcPts val="1000"/>
              </a:spcAft>
              <a:defRPr sz="1800">
                <a:solidFill>
                  <a:srgbClr val="182B3B"/>
                </a:solidFill>
                <a:latin typeface="Aptos"/>
              </a:defRPr>
            </a:pPr>
            <a:r>
              <a:t>• The application saves Trip and passes the event to the handler in the same process; no broker is needed.</a:t>
            </a:r>
          </a:p>
          <a:p>
            <a:pPr>
              <a:spcAft>
                <a:spcPts val="1000"/>
              </a:spcAft>
              <a:defRPr sz="1800">
                <a:solidFill>
                  <a:srgbClr val="182B3B"/>
                </a:solidFill>
                <a:latin typeface="Aptos"/>
              </a:defRPr>
            </a:pPr>
            <a:r>
              <a:t>• The handler retrieves B and calls withdraw(). B checks that it is active, then returns inactive state with zero availability.</a:t>
            </a:r>
          </a:p>
          <a:p>
            <a:pPr>
              <a:spcAft>
                <a:spcPts val="1000"/>
              </a:spcAft>
              <a:defRPr sz="1800">
                <a:solidFill>
                  <a:srgbClr val="182B3B"/>
                </a:solidFill>
                <a:latin typeface="Aptos"/>
              </a:defRPr>
            </a:pPr>
            <a:r>
              <a:t>• The handler stores the returned root; listings hide it. It returns 'withdrawn' to the booking DTO.</a:t>
            </a:r>
          </a:p>
          <a:p>
            <a:pPr>
              <a:spcAft>
                <a:spcPts val="1000"/>
              </a:spcAft>
              <a:defRPr sz="1800">
                <a:solidFill>
                  <a:srgbClr val="182B3B"/>
                </a:solidFill>
                <a:latin typeface="Aptos"/>
              </a:defRPr>
            </a:pPr>
            <a:r>
              <a:t>• Repeated delivery: B rejects withdrawal; the handler returns 'rejected: advertisement already withdrawn'. State is unchanged. Missing B also returns a rejection.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008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>
                <a:solidFill>
                  <a:srgbClr val="587080"/>
                </a:solidFill>
                <a:latin typeface="Aptos"/>
              </a:defRPr>
            </a:pPr>
            <a:r>
              <a:t>MAKERERE UNIVERSITY · ADVANCED PROGRAMMING                                                 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>
                <a:solidFill>
                  <a:srgbClr val="087F8C"/>
                </a:solidFill>
                <a:latin typeface="Aptos"/>
              </a:defRPr>
            </a:pPr>
            <a:r>
              <a:t>BUS SEAT BOOKING /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000">
                <a:solidFill>
                  <a:srgbClr val="182B3B"/>
                </a:solidFill>
                <a:latin typeface="Aptos"/>
              </a:defRPr>
            </a:pPr>
            <a:r>
              <a:t>Eight tests, explicit coverage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587080"/>
                </a:solidFill>
                <a:latin typeface="Aptos"/>
              </a:defRPr>
            </a:pPr>
            <a:r>
              <a:t>test/test_architecture.py · expected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965960"/>
            <a:ext cx="1097280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82B3B"/>
                </a:solidFill>
                <a:latin typeface="Aptos"/>
              </a:defRPr>
            </a:pPr>
            <a:r>
              <a:t>• T1 / BR1: seat 1 accepted; zero, negative, bool, float, and string rejected.</a:t>
            </a:r>
          </a:p>
          <a:p>
            <a:pPr>
              <a:spcAft>
                <a:spcPts val="1000"/>
              </a:spcAft>
              <a:defRPr sz="1600">
                <a:solidFill>
                  <a:srgbClr val="182B3B"/>
                </a:solidFill>
                <a:latin typeface="Aptos"/>
              </a:defRPr>
            </a:pPr>
            <a:r>
              <a:t>• T2 / BR2: booking ID stored on the identified Trip; availability falls from 2 to 1.</a:t>
            </a:r>
          </a:p>
          <a:p>
            <a:pPr>
              <a:spcAft>
                <a:spcPts val="1000"/>
              </a:spcAft>
              <a:defRPr sz="1600">
                <a:solidFill>
                  <a:srgbClr val="182B3B"/>
                </a:solidFill>
                <a:latin typeface="Aptos"/>
              </a:defRPr>
            </a:pPr>
            <a:r>
              <a:t>• T3 / BR3: seat equal to capacity accepted; duplicate and capacity + 1 rejected without extra bookings.</a:t>
            </a:r>
          </a:p>
          <a:p>
            <a:pPr>
              <a:spcAft>
                <a:spcPts val="1000"/>
              </a:spcAft>
              <a:defRPr sz="1600">
                <a:solidFill>
                  <a:srgbClr val="182B3B"/>
                </a:solidFill>
                <a:latin typeface="Aptos"/>
              </a:defRPr>
            </a:pPr>
            <a:r>
              <a:t>• T4 / BR4: same bus/time rejected before storage; different bus/time accepted.</a:t>
            </a:r>
          </a:p>
          <a:p>
            <a:pPr>
              <a:spcAft>
                <a:spcPts val="1000"/>
              </a:spcAft>
              <a:defRPr sz="1600">
                <a:solidFill>
                  <a:srgbClr val="182B3B"/>
                </a:solidFill>
                <a:latin typeface="Aptos"/>
              </a:defRPr>
            </a:pPr>
            <a:r>
              <a:t>• T5 / BR5: no event before final seat; final booking returns TripFullyBooked with the trip identity.</a:t>
            </a:r>
          </a:p>
          <a:p>
            <a:pPr>
              <a:spcAft>
                <a:spcPts val="1000"/>
              </a:spcAft>
              <a:defRPr sz="1600">
                <a:solidFill>
                  <a:srgbClr val="182B3B"/>
                </a:solidFill>
                <a:latin typeface="Aptos"/>
              </a:defRPr>
            </a:pPr>
            <a:r>
              <a:t>• T6 / BR6: missing Trip and duplicate trip number rejected; existing state unchanged.</a:t>
            </a:r>
          </a:p>
          <a:p>
            <a:pPr>
              <a:spcAft>
                <a:spcPts val="1000"/>
              </a:spcAft>
              <a:defRPr sz="1600">
                <a:solidFill>
                  <a:srgbClr val="182B3B"/>
                </a:solidFill>
                <a:latin typeface="Aptos"/>
              </a:defRPr>
            </a:pPr>
            <a:r>
              <a:t>• T7: full BookSeat use case returns 'withdrawn'; B is inactive/zero and absent from available listings.</a:t>
            </a:r>
          </a:p>
          <a:p>
            <a:pPr>
              <a:spcAft>
                <a:spcPts val="1000"/>
              </a:spcAft>
              <a:defRPr sz="1600">
                <a:solidFill>
                  <a:srgbClr val="182B3B"/>
                </a:solidFill>
                <a:latin typeface="Aptos"/>
              </a:defRPr>
            </a:pPr>
            <a:r>
              <a:t>• T8: repeated follow-up rejected; both final aggregate states and listing stay unchanged. Actual suite result: 8 tests, OK.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008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>
                <a:solidFill>
                  <a:srgbClr val="587080"/>
                </a:solidFill>
                <a:latin typeface="Aptos"/>
              </a:defRPr>
            </a:pPr>
            <a:r>
              <a:t>MAKERERE UNIVERSITY · ADVANCED PROGRAMMING                                                 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>
                <a:solidFill>
                  <a:srgbClr val="087F8C"/>
                </a:solidFill>
                <a:latin typeface="Aptos"/>
              </a:defRPr>
            </a:pPr>
            <a:r>
              <a:t>BUS SEAT BOOKING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000">
                <a:solidFill>
                  <a:srgbClr val="182B3B"/>
                </a:solidFill>
                <a:latin typeface="Aptos"/>
              </a:defRPr>
            </a:pPr>
            <a:r>
              <a:t>A real fail → implement → pass 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587080"/>
                </a:solidFill>
                <a:latin typeface="Aptos"/>
              </a:defRPr>
            </a:pPr>
            <a:r>
              <a:t>T4 · captured during this revision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965960"/>
            <a:ext cx="1097280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82B3B"/>
                </a:solidFill>
                <a:latin typeface="Aptos"/>
              </a:defRPr>
            </a:pPr>
            <a:r>
              <a:t>• RED: wrote T4 before the scheduling policy existed and ran it against the original scheduling behaviour (imports repaired).</a:t>
            </a:r>
          </a:p>
          <a:p>
            <a:pPr>
              <a:spcAft>
                <a:spcPts val="1000"/>
              </a:spcAft>
              <a:defRPr sz="1800">
                <a:solidFill>
                  <a:srgbClr val="182B3B"/>
                </a:solidFill>
                <a:latin typeface="Aptos"/>
              </a:defRPr>
            </a:pPr>
            <a:r>
              <a:t>• Actual failure: AssertionError: ValueError not raised. Evidence: evidence/tdd-red.txt (one test, one failure).</a:t>
            </a:r>
          </a:p>
          <a:p>
            <a:pPr>
              <a:spcAft>
                <a:spcPts val="1000"/>
              </a:spcAft>
              <a:defRPr sz="1800">
                <a:solidFill>
                  <a:srgbClr val="182B3B"/>
                </a:solidFill>
                <a:latin typeface="Aptos"/>
              </a:defRPr>
            </a:pPr>
            <a:r>
              <a:t>• IMPLEMENT: added BusSchedulingPolicy.ensure_available and invoked it before CreateTripService stores a Trip.</a:t>
            </a:r>
          </a:p>
          <a:p>
            <a:pPr>
              <a:spcAft>
                <a:spcPts val="1000"/>
              </a:spcAft>
              <a:defRPr sz="1800">
                <a:solidFill>
                  <a:srgbClr val="182B3B"/>
                </a:solidFill>
                <a:latin typeface="Aptos"/>
              </a:defRPr>
            </a:pPr>
            <a:r>
              <a:t>• GREEN: reran the same T4 unchanged; it passed. Evidence: evidence/tdd-green.txt.</a:t>
            </a:r>
          </a:p>
          <a:p>
            <a:pPr>
              <a:spcAft>
                <a:spcPts val="1000"/>
              </a:spcAft>
              <a:defRPr sz="1800">
                <a:solidFill>
                  <a:srgbClr val="182B3B"/>
                </a:solidFill>
                <a:latin typeface="Aptos"/>
              </a:defRPr>
            </a:pPr>
            <a:r>
              <a:t>• REFACTOR / REGRESSION: final complete suite contains exactly eight tests and passes. Evidence: evidence/test-results.txt.</a:t>
            </a:r>
          </a:p>
          <a:p>
            <a:pPr>
              <a:spcAft>
                <a:spcPts val="1000"/>
              </a:spcAft>
              <a:defRPr sz="1800">
                <a:solidFill>
                  <a:srgbClr val="182B3B"/>
                </a:solidFill>
                <a:latin typeface="Aptos"/>
              </a:defRPr>
            </a:pPr>
            <a:r>
              <a:t>• Inspect evidence/tdd-change.diff for the relevant change. This documents the new BR4 cycle, not the original project's development history.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008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>
                <a:solidFill>
                  <a:srgbClr val="587080"/>
                </a:solidFill>
                <a:latin typeface="Aptos"/>
              </a:defRPr>
            </a:pPr>
            <a:r>
              <a:t>MAKERERE UNIVERSITY · ADVANCED PROGRAMMING                                                 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>
                <a:solidFill>
                  <a:srgbClr val="087F8C"/>
                </a:solidFill>
                <a:latin typeface="Aptos"/>
              </a:defRPr>
            </a:pPr>
            <a:r>
              <a:t>BUS SEAT BOOKING /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000">
                <a:solidFill>
                  <a:srgbClr val="182B3B"/>
                </a:solidFill>
                <a:latin typeface="Aptos"/>
              </a:defRPr>
            </a:pPr>
            <a:r>
              <a:t>Walk through the main use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587080"/>
                </a:solidFill>
                <a:latin typeface="Aptos"/>
              </a:defRPr>
            </a:pPr>
            <a:r>
              <a:t>TR001 · two seats · final booking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965960"/>
            <a:ext cx="1097280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82B3B"/>
                </a:solidFill>
                <a:latin typeface="Aptos"/>
              </a:defRPr>
            </a:pPr>
            <a:r>
              <a:t>• Setup: schedule TR001 on BUS001 with capacity 2. The scheduling policy accepts; both Trip and its active advertisement are stored.</a:t>
            </a:r>
          </a:p>
          <a:p>
            <a:pPr>
              <a:spcAft>
                <a:spcPts val="1000"/>
              </a:spcAft>
              <a:defRPr sz="1800">
                <a:solidFill>
                  <a:srgbClr val="182B3B"/>
                </a:solidFill>
                <a:latin typeface="Aptos"/>
              </a:defRPr>
            </a:pPr>
            <a:r>
              <a:t>• Alex books seat 1. Trip availability becomes 1; no full-booking event. The advertisement updates to 1.</a:t>
            </a:r>
          </a:p>
          <a:p>
            <a:pPr>
              <a:spcAft>
                <a:spcPts val="1000"/>
              </a:spcAft>
              <a:defRPr sz="1800">
                <a:solidFill>
                  <a:srgbClr val="182B3B"/>
                </a:solidFill>
                <a:latin typeface="Aptos"/>
              </a:defRPr>
            </a:pPr>
            <a:r>
              <a:t>• Sam submits BookSeatInputDTO('TR001', 'Sam', 2). Lookup succeeds and SeatNumber(2) validates.</a:t>
            </a:r>
          </a:p>
          <a:p>
            <a:pPr>
              <a:spcAft>
                <a:spcPts val="1000"/>
              </a:spcAft>
              <a:defRPr sz="1800">
                <a:solidFill>
                  <a:srgbClr val="182B3B"/>
                </a:solidFill>
                <a:latin typeface="Aptos"/>
              </a:defRPr>
            </a:pPr>
            <a:r>
              <a:t>• Trip verifies range, capacity, uniqueness, and passenger name. It creates Booking, leaves zero seats, and raises TripFullyBooked('TR001').</a:t>
            </a:r>
          </a:p>
          <a:p>
            <a:pPr>
              <a:spcAft>
                <a:spcPts val="1000"/>
              </a:spcAft>
              <a:defRPr sz="1800">
                <a:solidFill>
                  <a:srgbClr val="182B3B"/>
                </a:solidFill>
                <a:latin typeface="Aptos"/>
              </a:defRPr>
            </a:pPr>
            <a:r>
              <a:t>• Application saves Trip. Handler asks B to withdraw; B accepts and returns its inactive state, which is stored.</a:t>
            </a:r>
          </a:p>
          <a:p>
            <a:pPr>
              <a:spcAft>
                <a:spcPts val="1000"/>
              </a:spcAft>
              <a:defRPr sz="1800">
                <a:solidFill>
                  <a:srgbClr val="182B3B"/>
                </a:solidFill>
                <a:latin typeface="Aptos"/>
              </a:defRPr>
            </a:pPr>
            <a:r>
              <a:t>• Output reports the booking ID, zero remaining seats, and 'withdrawn'. Available-trip listing excludes TR001. T7 verifies this complete path.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008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>
                <a:solidFill>
                  <a:srgbClr val="587080"/>
                </a:solidFill>
                <a:latin typeface="Aptos"/>
              </a:defRPr>
            </a:pPr>
            <a:r>
              <a:t>MAKERERE UNIVERSITY · ADVANCED PROGRAMMING                                                 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>
                <a:solidFill>
                  <a:srgbClr val="087F8C"/>
                </a:solidFill>
                <a:latin typeface="Aptos"/>
              </a:defRPr>
            </a:pPr>
            <a:r>
              <a:t>BUS SEAT BOOKING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000">
                <a:solidFill>
                  <a:srgbClr val="182B3B"/>
                </a:solidFill>
                <a:latin typeface="Aptos"/>
              </a:defRPr>
            </a:pPr>
            <a:r>
              <a:t>Change a design when evidence demands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587080"/>
                </a:solidFill>
                <a:latin typeface="Aptos"/>
              </a:defRPr>
            </a:pPr>
            <a:r>
              <a:t>Rejected choice · improved responsibility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965960"/>
            <a:ext cx="1097280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82B3B"/>
                </a:solidFill>
                <a:latin typeface="Aptos"/>
              </a:defRPr>
            </a:pPr>
            <a:r>
              <a:t>• Rejected: the event handler directly deletes the advertisement through a repository. B then has no transition rule and cannot reject a follow-up.</a:t>
            </a:r>
          </a:p>
          <a:p>
            <a:pPr>
              <a:spcAft>
                <a:spcPts val="1000"/>
              </a:spcAft>
              <a:defRPr sz="1800">
                <a:solidFill>
                  <a:srgbClr val="182B3B"/>
                </a:solidFill>
                <a:latin typeface="Aptos"/>
              </a:defRPr>
            </a:pPr>
            <a:r>
              <a:t>• Chosen: retain B and let TripAdvertisement.withdraw guard the state change. The handler orchestrates and persists its result.</a:t>
            </a:r>
          </a:p>
          <a:p>
            <a:pPr>
              <a:spcAft>
                <a:spcPts val="1000"/>
              </a:spcAft>
              <a:defRPr sz="1800">
                <a:solidFill>
                  <a:srgbClr val="182B3B"/>
                </a:solidFill>
                <a:latin typeface="Aptos"/>
              </a:defRPr>
            </a:pPr>
            <a:r>
              <a:t>• Benefit: T8 can demonstrate a real domain rejection and unchanged final state. Retention also makes the outcome inspectable.</a:t>
            </a:r>
          </a:p>
          <a:p>
            <a:pPr>
              <a:spcAft>
                <a:spcPts val="1000"/>
              </a:spcAft>
              <a:defRPr sz="1800">
                <a:solidFill>
                  <a:srgbClr val="182B3B"/>
                </a:solidFill>
                <a:latin typeface="Aptos"/>
              </a:defRPr>
            </a:pPr>
            <a:r>
              <a:t>• Tradeoff: inactive records remain in memory; list_available filters them. Persistence is intentionally temporary.</a:t>
            </a:r>
          </a:p>
          <a:p>
            <a:pPr>
              <a:spcAft>
                <a:spcPts val="1000"/>
              </a:spcAft>
              <a:defRPr sz="1800">
                <a:solidFill>
                  <a:srgbClr val="182B3B"/>
                </a:solidFill>
                <a:latin typeface="Aptos"/>
              </a:defRPr>
            </a:pPr>
            <a:r>
              <a:t>• Change exercise: if repeated withdrawal should succeed idempotently, change B's transition contract and T8's expected outcome; booking rules need not change.</a:t>
            </a:r>
          </a:p>
          <a:p>
            <a:pPr>
              <a:spcAft>
                <a:spcPts val="1000"/>
              </a:spcAft>
              <a:defRPr sz="1800">
                <a:solidFill>
                  <a:srgbClr val="182B3B"/>
                </a:solidFill>
                <a:latin typeface="Aptos"/>
              </a:defRPr>
            </a:pPr>
            <a:r>
              <a:t>• AI assistance is disclosed in README. Each member must explain this tradeoff and trace the code independently.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008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>
                <a:solidFill>
                  <a:srgbClr val="587080"/>
                </a:solidFill>
                <a:latin typeface="Aptos"/>
              </a:defRPr>
            </a:pPr>
            <a:r>
              <a:t>MAKERERE UNIVERSITY · ADVANCED PROGRAMMING                                                 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>
                <a:solidFill>
                  <a:srgbClr val="087F8C"/>
                </a:solidFill>
                <a:latin typeface="Aptos"/>
              </a:defRPr>
            </a:pPr>
            <a:r>
              <a:t>BUS SEAT BOOKING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000">
                <a:solidFill>
                  <a:srgbClr val="182B3B"/>
                </a:solidFill>
                <a:latin typeface="Aptos"/>
              </a:defRPr>
            </a:pPr>
            <a:r>
              <a:t>Every rule has inspectable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587080"/>
                </a:solidFill>
                <a:latin typeface="Aptos"/>
              </a:defRPr>
            </a:pPr>
            <a:r>
              <a:t>Rule → responsible code → test → final result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965960"/>
            <a:ext cx="1097280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82B3B"/>
                </a:solidFill>
                <a:latin typeface="Aptos"/>
              </a:defRPr>
            </a:pPr>
            <a:r>
              <a:t>• BR1 → Domain/ValueObject/seatnumber.py : SeatNumber → T1 → PASS</a:t>
            </a:r>
          </a:p>
          <a:p>
            <a:pPr>
              <a:spcAft>
                <a:spcPts val="1000"/>
              </a:spcAft>
              <a:defRPr sz="1600">
                <a:solidFill>
                  <a:srgbClr val="182B3B"/>
                </a:solidFill>
                <a:latin typeface="Aptos"/>
              </a:defRPr>
            </a:pPr>
            <a:r>
              <a:t>• BR2 → Domain/Aggregate/TripAggregate/trip.py : book_seat → T2 → PASS</a:t>
            </a:r>
          </a:p>
          <a:p>
            <a:pPr>
              <a:spcAft>
                <a:spcPts val="1000"/>
              </a:spcAft>
              <a:defRPr sz="1600">
                <a:solidFill>
                  <a:srgbClr val="182B3B"/>
                </a:solidFill>
                <a:latin typeface="Aptos"/>
              </a:defRPr>
            </a:pPr>
            <a:r>
              <a:t>• BR3 → Trip.book_seat + booked_seats read-only view → T3 → PASS</a:t>
            </a:r>
          </a:p>
          <a:p>
            <a:pPr>
              <a:spcAft>
                <a:spcPts val="1000"/>
              </a:spcAft>
              <a:defRPr sz="1600">
                <a:solidFill>
                  <a:srgbClr val="182B3B"/>
                </a:solidFill>
                <a:latin typeface="Aptos"/>
              </a:defRPr>
            </a:pPr>
            <a:r>
              <a:t>• BR4 → Domain/Services/BusSchedulingPolicy.py : ensure_available → T4 → PASS; red/green logs retained</a:t>
            </a:r>
          </a:p>
          <a:p>
            <a:pPr>
              <a:spcAft>
                <a:spcPts val="1000"/>
              </a:spcAft>
              <a:defRPr sz="1600">
                <a:solidFill>
                  <a:srgbClr val="182B3B"/>
                </a:solidFill>
                <a:latin typeface="Aptos"/>
              </a:defRPr>
            </a:pPr>
            <a:r>
              <a:t>• BR5 → Trip + TripFullyBooked + handler + TripAdvertisement.withdraw → T5 / T7 / T8 → PASS</a:t>
            </a:r>
          </a:p>
          <a:p>
            <a:pPr>
              <a:spcAft>
                <a:spcPts val="1000"/>
              </a:spcAft>
              <a:defRPr sz="1600">
                <a:solidFill>
                  <a:srgbClr val="182B3B"/>
                </a:solidFill>
                <a:latin typeface="Aptos"/>
              </a:defRPr>
            </a:pPr>
            <a:r>
              <a:t>• BR6 → BookSeatService / CreateTripService + ITripRepository → T6 → PASS</a:t>
            </a:r>
          </a:p>
          <a:p>
            <a:pPr>
              <a:spcAft>
                <a:spcPts val="1000"/>
              </a:spcAft>
              <a:defRPr sz="1600">
                <a:solidFill>
                  <a:srgbClr val="182B3B"/>
                </a:solidFill>
                <a:latin typeface="Aptos"/>
              </a:defRPr>
            </a:pPr>
            <a:r>
              <a:t>• Evidence: evidence/test-results.txt; run python -B -m unittest discover -s test -v from the root.</a:t>
            </a:r>
          </a:p>
          <a:p>
            <a:pPr>
              <a:spcAft>
                <a:spcPts val="1000"/>
              </a:spcAft>
              <a:defRPr sz="1600">
                <a:solidFill>
                  <a:srgbClr val="182B3B"/>
                </a:solidFill>
                <a:latin typeface="Aptos"/>
              </a:defRPr>
            </a:pPr>
            <a:r>
              <a:t>• Conclusion: six rules, two roots, an event-connected workflow, eight tests, and 15 slides. Four confirmed members cover five roles; each member must defend the work individually.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008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>
                <a:solidFill>
                  <a:srgbClr val="587080"/>
                </a:solidFill>
                <a:latin typeface="Aptos"/>
              </a:defRPr>
            </a:pPr>
            <a:r>
              <a:t>MAKERERE UNIVERSITY · ADVANCED PROGRAMMING                                                 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